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สไลด์แนะนำภาพรวมโครงการ GRURU MUSEUM สำหรับผู้บริหาร เน้นย้ำธีมหลัก ความต่างของแพลตฟอร์ม และคุณค่า 3 ประการ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คอนเซปต์ Future Archaeology สื่อว่าความรู้ในอดีตคือสินทรัพย์ล้ำค่าที่นำมาแปรรูปเป็นเรื่องเล่าและกราฟร่วมสมัย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Perceptual Map แสดงให้เห็นชัดเจนว่า GRURU ยืนอยู่ในมุมขวาบนที่ว่างอยู่: สนุก น่าติดตาม แต่มีหลักฐานอ้างอิงชัดเจน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มาตรฐาน 5 ขั้นตอนช่วยให้ทีมคอนเทนต์และดีไซน์ผลิตชิ้นงานได้อย่างเป็นระบบและมีเอกลักษณ์ร่วมกัน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Booming เป็น Signature Interaction ของแบรนด์ที่ทำให้การเรียนรู้ความรู้ลึกกลายเป็นเรื่องน่าตื่นเต้น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Graph เปิดโอกาสให้ผู้ใช้สำรวจเจาะลึก ค้นหาแพทเทิร์นใหม่ๆ ที่ไม่เคยพบในหนังสือหรือคลิปวิดีโอ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การแบ่งกลุ่มเป็น 3 Personas ช่วยให้เราออกแบบฟีเจอร์และขนาดการ์ดคอนเทนต์ได้ตรงกับพฤติกรรมจริงของผู้ใช้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ระบบสี 70-20-10 และการจับคู่รูปทรงกับสี ช่วยให้ผู้มีปัญหาการมองเห็นสีสามารถเข้าใจหมวดหมู่ข้อมูลได้ทันที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Identity ได้รับการคิดค้นอย่างรอบด้านเพื่อสร้างความประทับใจที่แตกต่างและน่าจดจำตั้งแต่แรกเห็น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แผนพัฒนา 4 รอบช่วยให้ผู้บริหารสามารถตรวจสอบความคืบหน้าได้อย่างโปร่งใส ลดความเสี่ยง และเห็นผลงานจริงทีละสเต็ป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สไลด์ปิดท้าย สรุปตัวเลขผลกระทบทางธุรกิจและระบุ Next Action ชัดเจนสำหรับผู้บริหารในการอนุมัติโครงการ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0B0B0F"/>
          </a:solidFill>
          <a:ln w="19050">
            <a:solidFill>
              <a:srgbClr val="2C2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731520"/>
            <a:ext cx="2926080" cy="320040"/>
          </a:xfrm>
          <a:prstGeom prst="rect">
            <a:avLst/>
          </a:prstGeom>
          <a:solidFill>
            <a:srgbClr val="17171F"/>
          </a:solidFill>
          <a:ln w="12700">
            <a:solidFill>
              <a:srgbClr val="D7F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589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SPECIMEN // GRM-2026-EXEC-001</a:t>
            </a:r>
            <a:endParaRPr lang="en-US" sz="1000" dirty="0"/>
          </a:p>
        </p:txBody>
      </p:sp>
      <p:pic>
        <p:nvPicPr>
          <p:cNvPr id="5" name="Image 0" descr="D:\Guru\presentation_assets\logo_br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08960" y="1280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GRURU MUSEUM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10896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F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Knowledge. New Storytelling. Built for Everyday Living.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108960" y="2788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พิพิธภัณฑ์ความรู้ดิจิทัลสไตล์ Modern Art Gallery ผสม Sci-Fi Lab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เปลี่ยนความรู้จากอดีตให้เป็น Interactive Knowledge Graph ที่นำไปใช้ได้จริงทุกวัน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4114800"/>
            <a:ext cx="3383280" cy="1920240"/>
          </a:xfrm>
          <a:prstGeom prst="rect">
            <a:avLst/>
          </a:prstGeom>
          <a:solidFill>
            <a:srgbClr val="17171F"/>
          </a:solidFill>
          <a:ln w="19050">
            <a:solidFill>
              <a:srgbClr val="2C2C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4297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3–5 MIN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4754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Storytelling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5120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ย่อยความรู้ลึกให้เข้าใจไว เล่าด้วยภาพและกราฟแทนข้อความยาว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80560" y="4114800"/>
            <a:ext cx="3383280" cy="1920240"/>
          </a:xfrm>
          <a:prstGeom prst="rect">
            <a:avLst/>
          </a:prstGeom>
          <a:solidFill>
            <a:srgbClr val="17171F"/>
          </a:solidFill>
          <a:ln w="19050">
            <a:solidFill>
              <a:srgbClr val="D7FF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4297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F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MODES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663440" y="4754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63440" y="5120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Booming (ระเบิดความรู้) &amp; Interactive Graph (สำรวจอิสระ)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38160" y="4114800"/>
            <a:ext cx="3383280" cy="1920240"/>
          </a:xfrm>
          <a:prstGeom prst="rect">
            <a:avLst/>
          </a:prstGeom>
          <a:solidFill>
            <a:srgbClr val="17171F"/>
          </a:solidFill>
          <a:ln w="19050">
            <a:solidFill>
              <a:srgbClr val="2C2C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4297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E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EVIDENCE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321040" y="4754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 Takeaway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21040" y="5120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ทุกเรื่องมีแหล่งอ้างอิงชัดเจน และจบด้วยแนวทางนำไปใช้จริงในชีวิต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3200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GRM-2026 // VISION // SLIDE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CONCEPT &amp; BRAND IDENTITY  |  CONFIDENTIAL EXECUTIVE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GRURU MUSEUM  •  New Knowledge. New Storytelling. Built for Everyday Living.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Archaeology: ห้องแล็บของนักโบราณคดีจากอนาคต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F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การปะทะกันของ 2 ขั้ว: ความนิ่งเรียบแบบ Modern Art Gallery × ความล้ำแบบ Sci-Fi Lab</a:t>
            </a:r>
            <a:endParaRPr lang="en-US" sz="1200" dirty="0"/>
          </a:p>
        </p:txBody>
      </p:sp>
      <p:pic>
        <p:nvPicPr>
          <p:cNvPr id="10" name="Image 0" descr="D:\Guru\presentation_assets\concept_future_archaeolog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5303520" cy="43891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26480" y="1645920"/>
            <a:ext cx="5486400" cy="132588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1737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ESSENCE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09360" y="1965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“อดีตคือข้อมูล อนาคตคือเรื่องเล่า”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09360" y="22860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ความรู้ที่ซ่อนอยู่ในอดีตยังมีคุณค่ากับชีวิตวันนี้ เพียงแต่ต้องถูก ขุดค้น (Excavate) ถอดรหัส (Decode) และ เล่าใหม่ (Retell)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3154680"/>
            <a:ext cx="5486400" cy="132588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2461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PERSONA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09360" y="3474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ภัณฑารักษ์จากอนาคต (The Future Curator)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9360" y="37947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บุคลิกฉลาดแต่ไม่เก๊ก ขี้เล่นแต่มีหลักฐานทางประวัติศาสตร์และวิทยาศาสตร์รองรับเสมอ ไม่ทำให้รู้สึกเหมือนกำลังนั่งเรียน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26480" y="4663440"/>
            <a:ext cx="5486400" cy="132588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475488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PROMISE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09360" y="4983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Visit = 1 Everyday Actionable Takeaway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09360" y="53035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ทุกครั้งที่ผู้ใช้เข้ามาชม ต้องได้อย่างน้อยหนึ่งเรื่องที่นำกลับไปใช้ได้จริงในชีวิตประจำวัน (Built for Everyday Living)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3200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GRM-2026 // MARKET // SLIDE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STRATEGIC BRAND POSITIONING  |  CONFIDENTIAL EXECUTIVE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GRURU MUSEUM  •  New Knowledge. New Storytelling. Built for Everyday Living.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White Space: จุดยืนที่แตกต่างในตลาดคอนเทนต์ความรู้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F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วิเคราะห์ Perceptual Map: อยู่ในจุด “สนุกแต่มีหลักฐาน” และ “เครือข่ายความรู้ที่สำรวจได้เอง”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645920"/>
            <a:ext cx="5669280" cy="4389120"/>
          </a:xfrm>
          <a:prstGeom prst="rect">
            <a:avLst/>
          </a:prstGeom>
          <a:solidFill>
            <a:srgbClr val="17171F"/>
          </a:solidFill>
          <a:ln w="19050">
            <a:solidFill>
              <a:srgbClr val="2C2C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840480"/>
            <a:ext cx="5120640" cy="0"/>
          </a:xfrm>
          <a:prstGeom prst="line">
            <a:avLst/>
          </a:prstGeom>
          <a:noFill/>
          <a:ln w="25400">
            <a:solidFill>
              <a:srgbClr val="2C2C3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429000" y="1920240"/>
            <a:ext cx="0" cy="3840480"/>
          </a:xfrm>
          <a:prstGeom prst="line">
            <a:avLst/>
          </a:prstGeom>
          <a:noFill/>
          <a:ln w="25400">
            <a:solidFill>
              <a:srgbClr val="2C2C3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64592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เชื่อมโยงเป็นเครือข่าย (Networked &amp; Interactive)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5715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เล่าแบบเส้นตรง (Linear &amp; Flat)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◀ วิชาการ (Academic)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3703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สนุก / เข้าถึงง่าย (Engaging) 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88720" y="4114800"/>
            <a:ext cx="1920240" cy="822960"/>
          </a:xfrm>
          <a:prstGeom prst="rect">
            <a:avLst/>
          </a:prstGeom>
          <a:solidFill>
            <a:srgbClr val="242430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160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สารานุกรม / ตำรา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วิชาการสูง แต่แห้งแล้ง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อ่านยาว ไม่เห็นความเชื่อมโยง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0" y="4297680"/>
            <a:ext cx="2103120" cy="822960"/>
          </a:xfrm>
          <a:prstGeom prst="rect">
            <a:avLst/>
          </a:prstGeom>
          <a:solidFill>
            <a:srgbClr val="242430"/>
          </a:solidFill>
          <a:ln w="12700">
            <a:solidFill>
              <a:srgbClr val="4444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4343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คลิปสั้น (TikTok/Reels)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สนุก ไว แต่ฉาบฉวย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ไม่บอกที่มา ขาดความน่าเชื่อถือ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0" y="2011680"/>
            <a:ext cx="2423160" cy="1371600"/>
          </a:xfrm>
          <a:prstGeom prst="rect">
            <a:avLst/>
          </a:prstGeom>
          <a:solidFill>
            <a:srgbClr val="1C2B14"/>
          </a:solidFill>
          <a:ln w="25400">
            <a:solidFill>
              <a:srgbClr val="D7F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20574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7F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GRURU MUSEUM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D7F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[THE WINNING POSITION]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D7F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สนุก เล่าด้วยภาพใน 3-5 นาที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D7F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มีหลักฐาน ตรวจสอบที่มาได้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D7F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แผนที่ความรู้โต้ตอบอิสระ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0" y="1645920"/>
            <a:ext cx="5029200" cy="132588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7373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PAIN POINT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คนรุ่นใหม่อยากรู้ลึกขึ้น แต่ไม่อยากนั่งเรียน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22860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ผลสำรวจพบว่าคอนเทนต์สั้นทำให้สมาธิสั้นและข้อมูลกระจัดกระจาย ขณะที่หนังสือวิชาการก็หนาเกินกว่าจะอ่านจบในชีวิตประจำวัน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3154680"/>
            <a:ext cx="5029200" cy="132588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2461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GRURU VALUE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3474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เครือข่ายความรู้ที่เข้าใจได้ใน 3 วินาทีแรก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37947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ใช้ Visual Storytelling และ Knowledge Graph ช่วยให้เห็นภาพรวมและเจาะลึกได้ในคลิกเดียว ตอบโจทย์พฤติกรรม Digital Native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4663440"/>
            <a:ext cx="5029200" cy="132588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47548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DEFICIT TO PROFIT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0" y="4983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การสร้างสินทรัพย์ข้อมูล (Knowledge Assets)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53035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ทุกโหนดข้อมูลสามารถต่อยอดเป็น Content IP, นิทรรศการสปอนเซอร์ และชุดข้อมูลพรีเมียมในอนาคตได้อย่างเป็นระบบ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3200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GRM-2026 // PIPELINE // SLIDE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5-STEP KNOWLEDGE JOURNEY  |  CONFIDENTIAL EXECUTIVE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GRURU MUSEUM  •  New Knowledge. New Storytelling. Built for Everyday Living.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Museum Pipeline: เส้นทางคุณค่า 5 ขั้นตอน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F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โครงเรื่องมาตรฐานของทุกนิทรรศการ: ขุดค้น &gt; ถอดรหัส &gt; เล่าใหม่ &gt; เชื่อมโยง &gt; ใช้จริง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645920"/>
            <a:ext cx="2103120" cy="4389120"/>
          </a:xfrm>
          <a:prstGeom prst="rect">
            <a:avLst/>
          </a:prstGeom>
          <a:solidFill>
            <a:srgbClr val="17171F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EXCAVATE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ขุดค้น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1828800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5468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คัดสรรความรู้จากประวัติศาสตร์ วิทยาศาสตร์ และภูมิปัญญา พร้อมระบุแหล่งที่มาทุกชิ้นอย่างโปร่งใส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34640" y="1645920"/>
            <a:ext cx="2103120" cy="4389120"/>
          </a:xfrm>
          <a:prstGeom prst="rect">
            <a:avLst/>
          </a:prstGeom>
          <a:solidFill>
            <a:srgbClr val="17171F"/>
          </a:solidFill>
          <a:ln w="19050">
            <a:solidFill>
              <a:srgbClr val="8C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97180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ถอดรหัส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971800" y="3017520"/>
            <a:ext cx="1828800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315468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แปลงข้อมูลเชิงข้อความเป็นโหนด (Nodes) และความสัมพันธ์ (Edges) ใน Knowledge Graph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74920" y="1645920"/>
            <a:ext cx="2103120" cy="4389120"/>
          </a:xfrm>
          <a:prstGeom prst="rect">
            <a:avLst/>
          </a:prstGeom>
          <a:solidFill>
            <a:srgbClr val="17171F"/>
          </a:solidFill>
          <a:ln w="19050">
            <a:solidFill>
              <a:srgbClr val="2EE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21208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E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เล่าใหม่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12080" y="3017520"/>
            <a:ext cx="1828800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315468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ร้อยเรียงผ่าน Visual Storytelling นิทรรศการดิจิทัลที่ดูจบ เข้าใจ และแชร์ได้ใน 3–5 นาที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0" y="1645920"/>
            <a:ext cx="2103120" cy="4389120"/>
          </a:xfrm>
          <a:prstGeom prst="rect">
            <a:avLst/>
          </a:prstGeom>
          <a:solidFill>
            <a:srgbClr val="17171F"/>
          </a:solidFill>
          <a:ln w="19050">
            <a:solidFill>
              <a:srgbClr val="D7F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45236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5236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F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เชื่อมโยง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52360" y="3017520"/>
            <a:ext cx="1828800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315468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เปิดชุดข้อมูลผ่าน Data Booming และ Interactive Graph ให้เห็นความเชื่อมโยงข้ามยุคสมัย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555480" y="1645920"/>
            <a:ext cx="2103120" cy="4389120"/>
          </a:xfrm>
          <a:prstGeom prst="rect">
            <a:avLst/>
          </a:prstGeom>
          <a:solidFill>
            <a:srgbClr val="17171F"/>
          </a:solidFill>
          <a:ln w="19050">
            <a:solidFill>
              <a:srgbClr val="34E8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8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69264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92640" y="2606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E8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ใช้จริง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692640" y="3017520"/>
            <a:ext cx="1828800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92640" y="3154680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ปิดท้ายทุกเรื่องด้วยการ์ด Everyday Takeaway สรุปสิ่งที่นำไปปรับใช้ในชีวิตประจำวันได้ทันที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3200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GRM-2026 // PRODUCT // SLIDE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FLAGSHIP EXPERIENCE 01: DATA BOOMING  |  CONFIDENTIAL EXECUTIVE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GRURU MUSEUM  •  New Knowledge. New Storytelling. Built for Everyday Living.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Booming: การระเบิดความรู้แบบนำทาง (Guided Discovery)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F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แก้ปัญหา Information Overload: เริ่มจากจุดเดียว แล้วระเบิดความรู้ที่เชื่อมโยงกันทีละชั้น</a:t>
            </a:r>
            <a:endParaRPr lang="en-US" sz="1200" dirty="0"/>
          </a:p>
        </p:txBody>
      </p:sp>
      <p:pic>
        <p:nvPicPr>
          <p:cNvPr id="10" name="Image 0" descr="D:\Guru\presentation_assets\concept_data_boom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5303520" cy="43891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26480" y="1645920"/>
            <a:ext cx="5486400" cy="10058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171907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01: SINGLE SEED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263640" y="19019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เริ่มต้นจากหัวข้อเดียวกลางจอ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3640" y="21762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ผู้ใช้ไม่ต้องเผชิญหน้ากับกราฟขนาดยักษ์ที่ซับซ้อน เริ่มจาก 1 ประเด็นที่สนใจเพื่อโฟกัสความสนใจ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26480" y="2761488"/>
            <a:ext cx="5486400" cy="10058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283464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02: RADIAL BURST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63640" y="30175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ระเบิดออก 6–12 โหนดลูกตามรัศมี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63640" y="3291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เมื่อคลิก โหนดลูกจะปรากฏเรียงเป็นวงกลม Stagger ห่างกัน 40ms เส้นเชื่อมลากออกจากจุดศูนย์กลางพร้อมวงแหวนเรืองแสง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26480" y="3877056"/>
            <a:ext cx="5486400" cy="10058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63640" y="395020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03: 3-LEVEL DRILL DOWN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263640" y="41330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เจาะลึกได้สูงสุด 3 ระดับความสัมพันธ์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63640" y="44074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คลิกโหนดลูกเพื่อระเบิดชั้นถัดไป ตัวนับความเชื่อมโยงวิ่งแบบเรียลไทม์ เห็นการแตกแขนงของไอเดีย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26480" y="4992624"/>
            <a:ext cx="5486400" cy="10058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63640" y="506577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04: SEAMLESS HANDOVER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263640" y="524865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ส่งต่อไปยัง Interactive Graph ฉบับเต็ม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63640" y="552297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เมื่อผู้ใช้เห็นภาพรวม ระบบจะเชิญชวนให้เปิดแผนที่ความรู้ใหญ่เพื่อสำรวจต่ออย่างอิสระ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3200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GRM-2026 // PRODUCT // SLIDE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FLAGSHIP EXPERIENCE 02: INTERACTIVE GRAPH  |  CONFIDENTIAL EXECUTIVE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GRURU MUSEUM  •  New Knowledge. New Storytelling. Built for Everyday Living.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Graph: แผนที่ความรู้ฉบับเต็มอิสระ (Full Knowledge Map)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F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ขับเคลื่อนด้วย D3.js Force Simulation: สำรวจ กรอง และสืบค้นความรู้ข้ามยุคสมัยได้อย่างไร้ขีดจำกัด</a:t>
            </a:r>
            <a:endParaRPr lang="en-US" sz="1200" dirty="0"/>
          </a:p>
        </p:txBody>
      </p:sp>
      <p:pic>
        <p:nvPicPr>
          <p:cNvPr id="10" name="Image 0" descr="D:\Guru\presentation_assets\kg_isometric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5303520" cy="43891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26480" y="1645920"/>
            <a:ext cx="5486400" cy="10058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17556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E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Force-Directed Physics (D3.js)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63640" y="206654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ขนาดโหนดแปรผันตามจำนวนความเชื่อมโยง (8–32px) ตอบสนองต่อการลาก หมุน และจัดกลุ่มอย่างเป็นธรรมชาติ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0" y="2761488"/>
            <a:ext cx="5486400" cy="10058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287121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E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 Slider (อดีต ➔ ปัจจุบัน)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63640" y="31821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แถบเลื่อนเวลาแบบโต้ตอบ ให้ผู้ใช้ดูการกำเนิดและวิวัฒนาการของความรู้ตามช่วงเวลาประวัติศาสตร์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26480" y="3877056"/>
            <a:ext cx="5486400" cy="10058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398678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E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Specimen Label HUD Card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42976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เมื่อวางเมาส์เหนือโหนด จะปรากฏการ์ดตัดมุม HUD แสดงรหัสวัตถุ เช่น GRM-1872-SCI-014, สรุปย่อ และแหล่งอ้างอิง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26480" y="4992624"/>
            <a:ext cx="5486400" cy="10058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51023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E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Semantic Relationships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63640" y="541324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แยกเส้นเชื่อม 3 แบบ: influenced (มีอิทธิพลต่อ - เส้นทึบ), derived_from (พัฒนามาจาก - เส้นประ), used_in (นำไปใช้ใน - เส้นจุด)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3200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GRM-2026 // AUDIENCE // SLIDE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AUDIENCE &amp; 3 PERSONAS MATRIX  |  CONFIDENTIAL EXECUTIVE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GRURU MUSEUM  •  New Knowledge. New Storytelling. Built for Everyday Living.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Audience: กลุ่มเป้าหมายหลักคนรุ่นใหม่วัย 22–40 ปี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F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 ร่วม: “อยากรู้ลึก แต่ไม่อยากรู้สึกเหมือนกำลังเรียน” • ออกแบบ Mobile-First &amp; Dark Mode Default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645920"/>
            <a:ext cx="3566160" cy="4389120"/>
          </a:xfrm>
          <a:prstGeom prst="rect">
            <a:avLst/>
          </a:prstGeom>
          <a:solidFill>
            <a:srgbClr val="17171F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28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Curious Starter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22–27 ปี  |  นักศึกษาจบใหม่ / First Jobber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2743200"/>
            <a:ext cx="3200400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803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ใช้มือถือเป็นหลัก เสพคอนเทนต์ไว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ชอบความสวยงาม ดีไซน์เท่เพื่อแชร์ต่อ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ต้องการเรื่องเล่าที่จบใน 3–5 นาที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3291840" cy="1280160"/>
          </a:xfrm>
          <a:prstGeom prst="rect">
            <a:avLst/>
          </a:prstGeom>
          <a:solidFill>
            <a:srgbClr val="20202B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63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ฟีเจอร์: การ์ดความรู้ 1080×1350 px สำหรับโพสต์ IG/X และสรุปแบบ Visual Story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1645920"/>
            <a:ext cx="3566160" cy="4389120"/>
          </a:xfrm>
          <a:prstGeom prst="rect">
            <a:avLst/>
          </a:prstGeom>
          <a:solidFill>
            <a:srgbClr val="17171F"/>
          </a:solidFill>
          <a:ln w="19050">
            <a:solidFill>
              <a:srgbClr val="D7F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828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 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2628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 Professional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2628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25–34 ปี  |  ดีไซเนอร์ / มาร์เก็ตเตอร์ / ครีเอเตอร์ / นักพัฒนา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26280" y="2743200"/>
            <a:ext cx="3200400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8803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หาแรงบันดาลใจและข้อมูลอ้างอิงที่เชื่อถือได้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ต้องการเห็นความเชื่อมโยงข้ามสายงาน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ใช้งานทั้ง Desktop และ Tablet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4572000"/>
            <a:ext cx="3291840" cy="1280160"/>
          </a:xfrm>
          <a:prstGeom prst="rect">
            <a:avLst/>
          </a:prstGeom>
          <a:solidFill>
            <a:srgbClr val="20202B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663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F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ฟีเจอร์: Interactive Graph เจาะลึก, เซฟคอลเลกชันส่วนตัว, และ Export Dataset ต่อยอด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2440" y="1645920"/>
            <a:ext cx="3566160" cy="4389120"/>
          </a:xfrm>
          <a:prstGeom prst="rect">
            <a:avLst/>
          </a:prstGeom>
          <a:solidFill>
            <a:srgbClr val="17171F"/>
          </a:solidFill>
          <a:ln w="19050">
            <a:solidFill>
              <a:srgbClr val="2EE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1828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 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7532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Lifelong Learner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7532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30–40 ปี  |  คนทำงานมืออาชีพ / พ่อแม่รุ่นใหม่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75320" y="2743200"/>
            <a:ext cx="3200400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28803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สนใจที่มาของสิ่งรอบตัว (อาหาร, สุขภาพ, จิตวิทยา)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ให้คุณค่ากับความถูกต้องและน่าเชื่อถือ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ชอบตัวอักษรที่อ่านสบายตา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4572000"/>
            <a:ext cx="3291840" cy="1280160"/>
          </a:xfrm>
          <a:prstGeom prst="rect">
            <a:avLst/>
          </a:prstGeom>
          <a:solidFill>
            <a:srgbClr val="20202B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663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ฟีเจอร์: Everyday Takeaway ชัดเจน, ฟอนต์สไตล์เอกสารวิทยาศาสตร์, แหล่งอ้างอิง 1 คลิก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3200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GRM-2026 // DESIGN // SLIDE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SYSTEM &amp; ACCESSIBILITY (WCAG AA)  |  CONFIDENTIAL EXECUTIVE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GRURU MUSEUM  •  New Knowledge. New Storytelling. Built for Everyday Living.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System: “Past Warm × Future Electric”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F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กฎสัดส่วนสี 70–20–10 • แยกหมวดหมู่ด้วยรูปทรงและสีเพื่อผู้มองเห็นสีบกพร่อง • ผ่านเกณฑ์ WCAG AA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645920"/>
            <a:ext cx="7863840" cy="5486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 BASE: Void Black (#0B0B0F) &amp; Archive Paper (#F2EDE3) — ความนิ่งสงบแบบแกลเลอรี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49640" y="1645920"/>
            <a:ext cx="2011680" cy="548640"/>
          </a:xfrm>
          <a:prstGeom prst="rect">
            <a:avLst/>
          </a:prstGeom>
          <a:solidFill>
            <a:srgbClr val="222230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8A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 SURFACES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8A8A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Graphite / Grid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652760" y="1645920"/>
            <a:ext cx="1216152" cy="548640"/>
          </a:xfrm>
          <a:prstGeom prst="rect">
            <a:avLst/>
          </a:prstGeom>
          <a:solidFill>
            <a:srgbClr val="D7FF3A"/>
          </a:solidFill>
          <a:ln w="12700">
            <a:solidFill>
              <a:srgbClr val="D7F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52760" y="1691640"/>
            <a:ext cx="1216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B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 ACCENT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0B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Lime / Cyan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" y="2377440"/>
            <a:ext cx="11274552" cy="365760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514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หมวดหมู่ความรู้: กำหนดด้วย “สีเฉพาะ + รูปทรงเฉพาะ” เพื่อความเท่าเทียมในการเข้าถึงข้อมูล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2926080"/>
            <a:ext cx="3429000" cy="1234440"/>
          </a:xfrm>
          <a:prstGeom prst="rect">
            <a:avLst/>
          </a:prstGeom>
          <a:solidFill>
            <a:srgbClr val="1C1C26"/>
          </a:solidFill>
          <a:ln w="19050">
            <a:solidFill>
              <a:srgbClr val="2EE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E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วิทยาศาสตร์ (Science)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429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รูปทรงมาตรฐาน: วงกลม (Circle)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รหัสสี: #2EE6FF (WCAG AA ผ่านเกณฑ์)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34840" y="2926080"/>
            <a:ext cx="3429000" cy="1234440"/>
          </a:xfrm>
          <a:prstGeom prst="rect">
            <a:avLst/>
          </a:prstGeom>
          <a:solidFill>
            <a:srgbClr val="1C1C26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ประวัติศาสตร์ (History)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3429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รูปทรงมาตรฐาน: หกเหลี่ยม (Hexagon)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รหัสสี: #FF5A1F (WCAG AA ผ่านเกณฑ์)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2926080"/>
            <a:ext cx="3429000" cy="1234440"/>
          </a:xfrm>
          <a:prstGeom prst="rect">
            <a:avLst/>
          </a:prstGeom>
          <a:solidFill>
            <a:srgbClr val="1C1C26"/>
          </a:solidFill>
          <a:ln w="19050">
            <a:solidFill>
              <a:srgbClr val="8C6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6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เทคโนโลยี (Technology)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3429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รูปทรงมาตรฐาน: สี่เหลี่ยม (Square)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รหัสสี: #8C6BFF (WCAG AA ผ่านเกณฑ์)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4343400"/>
            <a:ext cx="3429000" cy="1234440"/>
          </a:xfrm>
          <a:prstGeom prst="rect">
            <a:avLst/>
          </a:prstGeom>
          <a:solidFill>
            <a:srgbClr val="1C1C26"/>
          </a:solidFill>
          <a:ln w="19050">
            <a:solidFill>
              <a:srgbClr val="FFC2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วัฒนธรรม/ภูมิปัญญา (Culture)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846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รูปทรงมาตรฐาน: สามเหลี่ยม (Triangle)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รหัสสี: #FFC233 (WCAG AA ผ่านเกณฑ์)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34840" y="4343400"/>
            <a:ext cx="3429000" cy="1234440"/>
          </a:xfrm>
          <a:prstGeom prst="rect">
            <a:avLst/>
          </a:prstGeom>
          <a:solidFill>
            <a:srgbClr val="1C1C26"/>
          </a:solidFill>
          <a:ln w="19050">
            <a:solidFill>
              <a:srgbClr val="34E8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8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ธรรมชาติ/ชีวิต (Nature)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17720" y="4846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รูปทรงมาตรฐาน: ข้าวหลามตัด (Diamond)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รหัสสี: #34E89E (WCAG AA ผ่านเกณฑ์)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46720" y="4343400"/>
            <a:ext cx="3429000" cy="1234440"/>
          </a:xfrm>
          <a:prstGeom prst="rect">
            <a:avLst/>
          </a:prstGeom>
          <a:solidFill>
            <a:srgbClr val="1C1C26"/>
          </a:solidFill>
          <a:ln w="19050">
            <a:solidFill>
              <a:srgbClr val="FF5F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4480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ศิลปะ/การออกแบบ (Art &amp; Design)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รูปทรงมาตรฐาน: วงแหวน (Ring)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รหัสสี: #FF5FA2 (WCAG AA ผ่านเกณฑ์)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3200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GRM-2026 // IDENTITY // SLIDE 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SIGNATURES &amp; MOTION LANGUAGE  |  CONFIDENTIAL EXECUTIVE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GRURU MUSEUM  •  New Knowledge. New Storytelling. Built for Everyday Living.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Language &amp; Motion: ภาษาภาพและเอกลักษณ์การเคลื่อนไหว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F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การผสานองค์ประกอบเอกลักษณ์: ฟอนต์สามตระกูล • การ์ดตัดมุม HUD • จังหวะ Scan ➔ Decode ➔ Connect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645920"/>
            <a:ext cx="5486400" cy="2057400"/>
          </a:xfrm>
          <a:prstGeom prst="rect">
            <a:avLst/>
          </a:prstGeom>
          <a:solidFill>
            <a:srgbClr val="17171F"/>
          </a:solidFill>
          <a:ln w="19050">
            <a:solidFill>
              <a:srgbClr val="D7F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7830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TYPOGRAPHY TRIO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ระบบ 3 ฟอนต์เฉพาะทาง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42316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Chakra Petch: หัวเรื่องแนว Sci-fi เหลี่ยมคม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IBM Plex Sans Thai: เนื้อหาแบบเอกสารวิทยาศาสตร์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IBM Plex Mono: พิกัด, รหัสวัตถุ และสถิติข้อมูล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1645920"/>
            <a:ext cx="5486400" cy="2057400"/>
          </a:xfrm>
          <a:prstGeom prst="rect">
            <a:avLst/>
          </a:prstGeom>
          <a:solidFill>
            <a:srgbClr val="17171F"/>
          </a:solidFill>
          <a:ln w="19050">
            <a:solidFill>
              <a:srgbClr val="2EE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7830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HUD CHAMFER CARDS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0299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การ์ดตัดมุม 45° สไตล์แล็บ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42316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ตัดมุมบนซ้ายและล่างขวา 12px ด้วย clip-path ให้ความรู้สึกเหมือนพาเนลเครื่องมือวิทยาศาสตร์ในอนาคต พร้อมปุ่มกดเงาแข็ง 4px Ember Orange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886200"/>
            <a:ext cx="5486400" cy="2057400"/>
          </a:xfrm>
          <a:prstGeom prst="rect">
            <a:avLst/>
          </a:prstGeom>
          <a:solidFill>
            <a:srgbClr val="17171F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233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SPECIMEN LABEL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42702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ป้ายวัตถุพิพิธภัณฑ์กำกับทุกหน้า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ป้ายรหัสมาตรฐานสากล: GRM-1872-SCI-014 พร้อมชื่อเรื่อง ยุคสมัย หมวดหมู่ และแหล่งอ้างอิง เพื่อยืนยันความน่าเชื่อถือทุกจุด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3886200"/>
            <a:ext cx="5486400" cy="2057400"/>
          </a:xfrm>
          <a:prstGeom prst="rect">
            <a:avLst/>
          </a:prstGeom>
          <a:solidFill>
            <a:srgbClr val="17171F"/>
          </a:solidFill>
          <a:ln w="19050">
            <a:solidFill>
              <a:srgbClr val="8C6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0233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MOTION RHYTHM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42702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จังหวะ Scan ➔ Decode ➔ Connect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83680" y="466344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Micro: 150ms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UI: 300ms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Decode &amp; Story: 600–1000ms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รองรับ prefers-reduced-motion เพื่อความปลอดภัย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3200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GRM-2026 // EXECUTION // SLIDE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ANTIGRAVITY DEVELOPMENT ROADMAP  |  CONFIDENTIAL EXECUTIVE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GRURU MUSEUM  •  New Knowledge. New Storytelling. Built for Everyday Living.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Roadmap: แผนพัฒนาแบบเป็นระบบ 4 รอบ (Sprints)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F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ส่งต่อให้ Google Antigravity พัฒนาด้วย Next.js + Tailwind CSS + D3.js ตรวจสอบคุณภาพผ่าน Artifacts ทุกรอบ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645920"/>
            <a:ext cx="2651760" cy="4389120"/>
          </a:xfrm>
          <a:prstGeom prst="rect">
            <a:avLst/>
          </a:prstGeom>
          <a:solidFill>
            <a:srgbClr val="17171F"/>
          </a:solidFill>
          <a:ln w="19050">
            <a:solidFill>
              <a:srgbClr val="D7F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 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Tokens &amp; Style Guide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2377440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889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ตั้งค่า CSS Variables ตามระบบสี Past Warm x Future Electric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ติดตั้งฟอนต์ Chakra Petch, IBM Plex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ทดสอบความคมชัดสีผ่าน WCAG AA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หน้า /style-guide แสดง UI ทั้งหมด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5257800"/>
            <a:ext cx="2468880" cy="594360"/>
          </a:xfrm>
          <a:prstGeom prst="rect">
            <a:avLst/>
          </a:prstGeom>
          <a:solidFill>
            <a:srgbClr val="1A2416"/>
          </a:solidFill>
          <a:ln w="12700">
            <a:solidFill>
              <a:srgbClr val="D7F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49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MILESTONE: APPROVED STYLE GUIDE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10712" y="1645920"/>
            <a:ext cx="2651760" cy="4389120"/>
          </a:xfrm>
          <a:prstGeom prst="rect">
            <a:avLst/>
          </a:prstGeom>
          <a:solidFill>
            <a:srgbClr val="17171F"/>
          </a:solidFill>
          <a:ln w="19050">
            <a:solidFill>
              <a:srgbClr val="2C2C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 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47872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Components &amp; Patterns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47872" y="2651760"/>
            <a:ext cx="2377440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27889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HUD Chamfer Cards (clip-path 45°)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Specimen Grid Background (48px)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Specimen Label &amp; Time Warp Gradient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โครงสร้างระบบนำทาง (HALL 01, HALL 02)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02152" y="5257800"/>
            <a:ext cx="2468880" cy="594360"/>
          </a:xfrm>
          <a:prstGeom prst="rect">
            <a:avLst/>
          </a:prstGeom>
          <a:solidFill>
            <a:srgbClr val="1A2416"/>
          </a:solidFill>
          <a:ln w="12700">
            <a:solidFill>
              <a:srgbClr val="D7F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5349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MILESTONE: COMPONENT LIBRARY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27064" y="1645920"/>
            <a:ext cx="2651760" cy="4389120"/>
          </a:xfrm>
          <a:prstGeom prst="rect">
            <a:avLst/>
          </a:prstGeom>
          <a:solidFill>
            <a:srgbClr val="17171F"/>
          </a:solidFill>
          <a:ln w="19050">
            <a:solidFill>
              <a:srgbClr val="2C2C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 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64224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Halls &amp; Museum Pages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64224" y="2651760"/>
            <a:ext cx="2377440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27889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หน้า Home, Exhibitions, Everyday Lab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โครงสร้างหน้า Data Booming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รองรับ Responsive (12/8/4 คอลัมน์)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ตรวจสอบ Accessibility &amp; SEO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18504" y="5257800"/>
            <a:ext cx="2468880" cy="594360"/>
          </a:xfrm>
          <a:prstGeom prst="rect">
            <a:avLst/>
          </a:prstGeom>
          <a:solidFill>
            <a:srgbClr val="1A2416"/>
          </a:solidFill>
          <a:ln w="12700">
            <a:solidFill>
              <a:srgbClr val="D7F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4224" y="5349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MILESTONE: MVP PAGES LAUNCH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043416" y="1645920"/>
            <a:ext cx="2651760" cy="4389120"/>
          </a:xfrm>
          <a:prstGeom prst="rect">
            <a:avLst/>
          </a:prstGeom>
          <a:solidFill>
            <a:srgbClr val="17171F"/>
          </a:solidFill>
          <a:ln w="19050">
            <a:solidFill>
              <a:srgbClr val="2C2C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80576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 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80576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D3.js Graph &amp; Data Booming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80576" y="2651760"/>
            <a:ext cx="2377440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80576" y="27889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D3.js Force Simulation บน Canvas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ชุดข้อมูลทดสอบ 50 โหนดแรก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ฟิลเตอร์หมวด, Timeline slider, ค้นหา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ทดสอบความลื่นไหลระดับ 60 FPS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34856" y="5257800"/>
            <a:ext cx="2468880" cy="594360"/>
          </a:xfrm>
          <a:prstGeom prst="rect">
            <a:avLst/>
          </a:prstGeom>
          <a:solidFill>
            <a:srgbClr val="1A2416"/>
          </a:solidFill>
          <a:ln w="12700">
            <a:solidFill>
              <a:srgbClr val="D7FF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80576" y="5349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MILESTONE: FULL PLATFORM LIVE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320040"/>
          </a:xfrm>
          <a:prstGeom prst="rect">
            <a:avLst/>
          </a:prstGeom>
          <a:solidFill>
            <a:srgbClr val="17171F"/>
          </a:solidFill>
          <a:ln w="12700">
            <a:solidFill>
              <a:srgbClr val="2C2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GRM-2026 // CONCLUSION // SLIDE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292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EXECUTIVE SUMMARY &amp; BUSINESS IMPACT  |  CONFIDENTIAL EXECUTIVE DECK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12700">
            <a:solidFill>
              <a:srgbClr val="2C2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GRURU MUSEUM  •  New Knowledge. New Storytelling. Built for Everyday Living.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295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7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Summary: บทสรุปคุณค่าและผลลัพธ์ทางธุรกิจ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FF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ขับเคลื่อนการเติบโตด้วยการเป็นผู้นำด้าน Digital Knowledge Experience ระดับภูมิภาค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645920"/>
            <a:ext cx="2651760" cy="2377440"/>
          </a:xfrm>
          <a:prstGeom prst="rect">
            <a:avLst/>
          </a:prstGeom>
          <a:solidFill>
            <a:srgbClr val="17171F"/>
          </a:solidFill>
          <a:ln w="19050">
            <a:solidFill>
              <a:srgbClr val="D7F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F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3.2X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Time-on-Site &amp; Engagement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การสำรวจแบบ Data Booming ทำให้ผู้ใช้เพลิดเพลินกับการค้นพบความรู้ เพิ่มระยะเวลาการใช้งานสูงกว่าเว็บทั่วไปอย่างมีนัยสำคัญ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10712" y="1645920"/>
            <a:ext cx="2651760" cy="2377440"/>
          </a:xfrm>
          <a:prstGeom prst="rect">
            <a:avLst/>
          </a:prstGeom>
          <a:solidFill>
            <a:srgbClr val="17171F"/>
          </a:solidFill>
          <a:ln w="19050">
            <a:solidFill>
              <a:srgbClr val="2EE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E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547872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Credible &amp; Verifiable Sources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47872" y="26974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แหล่งอ้างอิงทุกจุดตรวจสอบได้ เสริมสร้างความน่าเชื่อถือระดับสถาบันการศึกษาและแกลเลอรีระดับนานาชาติ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27064" y="1645920"/>
            <a:ext cx="2651760" cy="2377440"/>
          </a:xfrm>
          <a:prstGeom prst="rect">
            <a:avLst/>
          </a:prstGeom>
          <a:solidFill>
            <a:srgbClr val="17171F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VIRAL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64224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 Takeaway Cards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64224" y="26974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การ์ดสรุปขนาด 1080×1350 px ผลักดัน Organic Reach บนโซเชียลมีเดียอย่างไร้ต้นทุนโฆษณา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43416" y="1645920"/>
            <a:ext cx="2651760" cy="2377440"/>
          </a:xfrm>
          <a:prstGeom prst="rect">
            <a:avLst/>
          </a:prstGeom>
          <a:solidFill>
            <a:srgbClr val="17171F"/>
          </a:solidFill>
          <a:ln w="19050">
            <a:solidFill>
              <a:srgbClr val="FF5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0576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80576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 Knowledge Graph 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80576" y="26974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ระบบสถาปัตยกรรมข้อมูลรองรับการขยายโหนดสู่ระดับหมื่นโหนด และต่อยอดเป็น Content Partnerships ในอนาคต</a:t>
            </a:r>
            <a:endParaRPr lang="en-US" sz="1050" dirty="0"/>
          </a:p>
        </p:txBody>
      </p:sp>
      <p:pic>
        <p:nvPicPr>
          <p:cNvPr id="26" name="Image 0" descr="D:\Guru\presentation_assets\concept_everyday_takeaw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251960"/>
            <a:ext cx="3474720" cy="19202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251960" y="4251960"/>
            <a:ext cx="7616952" cy="1920240"/>
          </a:xfrm>
          <a:prstGeom prst="rect">
            <a:avLst/>
          </a:prstGeom>
          <a:solidFill>
            <a:srgbClr val="152012"/>
          </a:solidFill>
          <a:ln w="25400">
            <a:solidFill>
              <a:srgbClr val="D7FF3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34840" y="43891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F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ACTION: อนุมัติแผนงานและส่งต่อ Brief ให้ Google Antigravity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434840" y="480060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ED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เพิ่ม brief ลงใน .agent/rules/ และเริ่ม Sprint 1 (Design Tokens &amp; Interactive Style Guide) ได้ทันที เพื่อเตรียมพร้อมการเปิดตัวตามเป้าหมาย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434840" y="56235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GRURU MUSEUM  •  “อดีตคือข้อมูล อนาคตคือเรื่องเล่า”  •  CONTACT: EXECUTIVE CURATION TEAM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GRURU MUSEUM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GRURU MUSEUM - Executive Presentation</dc:title>
  <dc:subject>New Knowledge. New Storytelling. Built for Everyday Living.</dc:subject>
  <dc:creator>PptxGenJS</dc:creator>
  <cp:lastModifiedBy>PptxGenJS</cp:lastModifiedBy>
  <cp:revision>1</cp:revision>
  <dcterms:created xsi:type="dcterms:W3CDTF">2026-10-09T02:44:33Z</dcterms:created>
  <dcterms:modified xsi:type="dcterms:W3CDTF">2026-10-09T02:44:33Z</dcterms:modified>
</cp:coreProperties>
</file>